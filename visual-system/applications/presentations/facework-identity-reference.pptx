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ac8a96e56034182" /><Relationship Type="http://schemas.openxmlformats.org/officeDocument/2006/relationships/extended-properties" Target="/docProps/app.xml" Id="Rb629d0c2efbd4d9d" /><Relationship Type="http://schemas.openxmlformats.org/officeDocument/2006/relationships/officeDocument" Target="/ppt/presentation.xml" Id="R0364750841eb463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8ef647822a24437"/>
  </p:sldMasterIdLst>
  <p:notesMasterIdLst>
    <p:notesMasterId xmlns:r="http://schemas.openxmlformats.org/officeDocument/2006/relationships" r:id="R990981be7ec849cd"/>
  </p:notesMasterIdLst>
  <p:sldIdLst>
    <p:sldId xmlns:r="http://schemas.openxmlformats.org/officeDocument/2006/relationships" id="256" r:id="Rbe8ace9d60c54fca"/>
    <p:sldId xmlns:r="http://schemas.openxmlformats.org/officeDocument/2006/relationships" id="257" r:id="R17babcf117c54d9a"/>
    <p:sldId xmlns:r="http://schemas.openxmlformats.org/officeDocument/2006/relationships" id="258" r:id="Rd2df9a2ef52a4e48"/>
    <p:sldId xmlns:r="http://schemas.openxmlformats.org/officeDocument/2006/relationships" id="259" r:id="R762e90ee6da34273"/>
    <p:sldId xmlns:r="http://schemas.openxmlformats.org/officeDocument/2006/relationships" id="260" r:id="Rf14a6b133fe14e98"/>
    <p:sldId xmlns:r="http://schemas.openxmlformats.org/officeDocument/2006/relationships" id="261" r:id="Rc612ca09281e4df0"/>
    <p:sldId xmlns:r="http://schemas.openxmlformats.org/officeDocument/2006/relationships" id="262" r:id="Rd15c561432e646cb"/>
    <p:sldId xmlns:r="http://schemas.openxmlformats.org/officeDocument/2006/relationships" id="263" r:id="R81df05adb9b944d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2562fea27da4a5b" /><Relationship Type="http://schemas.openxmlformats.org/officeDocument/2006/relationships/slideMaster" Target="/ppt/slideMasters/slideMaster1.xml" Id="Rd8ef647822a24437" /><Relationship Type="http://schemas.openxmlformats.org/officeDocument/2006/relationships/notesMaster" Target="/ppt/notesMasters/notesMaster1.xml" Id="R990981be7ec849cd" /><Relationship Type="http://schemas.openxmlformats.org/officeDocument/2006/relationships/presProps" Target="/ppt/presProps.xml" Id="Rd48beb3ca4ff4969" /><Relationship Type="http://schemas.openxmlformats.org/officeDocument/2006/relationships/tableStyles" Target="/ppt/tableStyles.xml" Id="R815479b9ad4b425c" /><Relationship Type="http://schemas.openxmlformats.org/officeDocument/2006/relationships/slide" Target="/ppt/slides/slide1.xml" Id="Rbe8ace9d60c54fca" /><Relationship Type="http://schemas.openxmlformats.org/officeDocument/2006/relationships/slide" Target="/ppt/slides/slide2.xml" Id="R17babcf117c54d9a" /><Relationship Type="http://schemas.openxmlformats.org/officeDocument/2006/relationships/slide" Target="/ppt/slides/slide3.xml" Id="Rd2df9a2ef52a4e48" /><Relationship Type="http://schemas.openxmlformats.org/officeDocument/2006/relationships/slide" Target="/ppt/slides/slide4.xml" Id="R762e90ee6da34273" /><Relationship Type="http://schemas.openxmlformats.org/officeDocument/2006/relationships/slide" Target="/ppt/slides/slide5.xml" Id="Rf14a6b133fe14e98" /><Relationship Type="http://schemas.openxmlformats.org/officeDocument/2006/relationships/slide" Target="/ppt/slides/slide6.xml" Id="Rc612ca09281e4df0" /><Relationship Type="http://schemas.openxmlformats.org/officeDocument/2006/relationships/slide" Target="/ppt/slides/slide7.xml" Id="Rd15c561432e646cb" /><Relationship Type="http://schemas.openxmlformats.org/officeDocument/2006/relationships/slide" Target="/ppt/slides/slide8.xml" Id="R81df05adb9b944d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1027850113c486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377d480a5364fde" /><Relationship Type="http://schemas.openxmlformats.org/officeDocument/2006/relationships/notesMaster" Target="/ppt/notesMasters/notesMaster1.xml" Id="Rbf2e5b851f5d4f7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90e58427c9542df" /><Relationship Type="http://schemas.openxmlformats.org/officeDocument/2006/relationships/notesMaster" Target="/ppt/notesMasters/notesMaster1.xml" Id="R560c26754361499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2af111f7780443b" /><Relationship Type="http://schemas.openxmlformats.org/officeDocument/2006/relationships/notesMaster" Target="/ppt/notesMasters/notesMaster1.xml" Id="R9dc179943d4647d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eb0df5abbc34ed0" /><Relationship Type="http://schemas.openxmlformats.org/officeDocument/2006/relationships/notesMaster" Target="/ppt/notesMasters/notesMaster1.xml" Id="Ra6ac5854b7094e8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031c5e4226940e6" /><Relationship Type="http://schemas.openxmlformats.org/officeDocument/2006/relationships/notesMaster" Target="/ppt/notesMasters/notesMaster1.xml" Id="R904f1a7f5d6d422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cb111d1332542fc" /><Relationship Type="http://schemas.openxmlformats.org/officeDocument/2006/relationships/notesMaster" Target="/ppt/notesMasters/notesMaster1.xml" Id="R4f817a08d82941d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b3ccff052064c5f" /><Relationship Type="http://schemas.openxmlformats.org/officeDocument/2006/relationships/notesMaster" Target="/ppt/notesMasters/notesMaster1.xml" Id="R48d63f800fef4c2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28917a9f46f4644" /><Relationship Type="http://schemas.openxmlformats.org/officeDocument/2006/relationships/notesMaster" Target="/ppt/notesMasters/notesMaster1.xml" Id="R0e366f6c24c1490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distinction between selecting a style and deriving a behavior.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Facework Visual Specification and canonical identity artifacts, local repository, 2026-08-06.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derivation as the central design constraint.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Facework Visual Specification and canonical identity artifacts, local repository, 2026-08-06.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inherited butterfly is evidence; Axis Exchange is the derived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Facework Visual Specification and canonical identity artifacts, local repository, 2026-08-06.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separation of proper name, custom logotype, and domain.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Facework Visual Specification and canonical identity artifacts, local repository, 2026-08-06.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x to connect mark geometry, spacing, and responsive selection.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Facework Visual Specification and canonical identity artifacts, local repository, 2026-08-06.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grammar remains deliberately small and semantic.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Facework Visual Specification and canonical identity artifacts, local repository, 2026-08-06.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Motion is a state explanation, not an identity performance.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Facework Visual Specification and canonical identity artifacts, local repository, 2026-08-06.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returning to the opening question through inheritance.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Facework Visual Specification and canonical identity artifacts, local repository, 2026-08-06.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e7dadf277144c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8b7b612b6294968" /><Relationship Type="http://schemas.openxmlformats.org/officeDocument/2006/relationships/slideLayout" Target="/ppt/slideLayouts/slideLayout1.xml" Id="Ra9f41a0da616456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f41a0da616456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7f470e876f419f" /><Relationship Type="http://schemas.openxmlformats.org/officeDocument/2006/relationships/image" Target="/ppt/media/image.png" Id="Rf9481dbc0e204c0e" /><Relationship Type="http://schemas.openxmlformats.org/officeDocument/2006/relationships/notesSlide" Target="/ppt/notesSlides/notesSlide1.xml" Id="Ra96b94a4cb5e484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50f13ded23450d" /><Relationship Type="http://schemas.openxmlformats.org/officeDocument/2006/relationships/image" Target="/ppt/media/image2.png" Id="R67b2de17e7094090" /><Relationship Type="http://schemas.openxmlformats.org/officeDocument/2006/relationships/notesSlide" Target="/ppt/notesSlides/notesSlide2.xml" Id="R17d0ec62e68a4df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e87fa29e3b4b02" /><Relationship Type="http://schemas.openxmlformats.org/officeDocument/2006/relationships/image" Target="/ppt/media/image3.png" Id="Rd3ae2892e88c46dc" /><Relationship Type="http://schemas.openxmlformats.org/officeDocument/2006/relationships/notesSlide" Target="/ppt/notesSlides/notesSlide3.xml" Id="Rc68b9192c51e4e0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dfb2dfdd564d4f" /><Relationship Type="http://schemas.openxmlformats.org/officeDocument/2006/relationships/image" Target="/ppt/media/image4.png" Id="R2ba90cde97a54d31" /><Relationship Type="http://schemas.openxmlformats.org/officeDocument/2006/relationships/notesSlide" Target="/ppt/notesSlides/notesSlide4.xml" Id="R88aa8d880f6047f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e1c69936d44966" /><Relationship Type="http://schemas.openxmlformats.org/officeDocument/2006/relationships/image" Target="/ppt/media/image5.png" Id="Re385c47f29b94536" /><Relationship Type="http://schemas.openxmlformats.org/officeDocument/2006/relationships/image" Target="/ppt/media/image.svg" Id="Rb1d18f18a1564dfc" /><Relationship Type="http://schemas.openxmlformats.org/officeDocument/2006/relationships/notesSlide" Target="/ppt/notesSlides/notesSlide5.xml" Id="R260e5c0f8617469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231db1f19845c9" /><Relationship Type="http://schemas.openxmlformats.org/officeDocument/2006/relationships/image" Target="/ppt/media/image6.png" Id="R8259180f4e874d6e" /><Relationship Type="http://schemas.openxmlformats.org/officeDocument/2006/relationships/image" Target="/ppt/media/image2.svg" Id="R115a59d86f6549b6" /><Relationship Type="http://schemas.openxmlformats.org/officeDocument/2006/relationships/notesSlide" Target="/ppt/notesSlides/notesSlide6.xml" Id="Re87bddab749941d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9e1337dad947f2" /><Relationship Type="http://schemas.openxmlformats.org/officeDocument/2006/relationships/image" Target="/ppt/media/image7.png" Id="Rb09f1a4f5a7048f8" /><Relationship Type="http://schemas.openxmlformats.org/officeDocument/2006/relationships/image" Target="/ppt/media/image3.svg" Id="R34021860e05b4005" /><Relationship Type="http://schemas.openxmlformats.org/officeDocument/2006/relationships/notesSlide" Target="/ppt/notesSlides/notesSlide7.xml" Id="R16e1029c9d284fe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d5e6dc2ec34db6" /><Relationship Type="http://schemas.openxmlformats.org/officeDocument/2006/relationships/image" Target="/ppt/media/image8.png" Id="R4f78653879714ad5" /><Relationship Type="http://schemas.openxmlformats.org/officeDocument/2006/relationships/notesSlide" Target="/ppt/notesSlides/notesSlide8.xml" Id="R2b5c14c30c62416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481dbc0e204c0e"/>
          <a:stretch xmlns:a="http://schemas.openxmlformats.org/drawingml/2006/main"/>
        </p:blipFill>
        <p:spPr>
          <a:xfrm xmlns:a="http://schemas.openxmlformats.org/drawingml/2006/main">
            <a:off x="762000" y="823674"/>
            <a:ext cx="4953000" cy="848201"/>
          </a:xfrm>
          <a:prstGeom xmlns:a="http://schemas.openxmlformats.org/drawingml/2006/main" prst="rect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04CD584-5DB6-4FFA-9804-2C6223072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62250"/>
            <a:ext cx="7239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4950" b="0">
                <a:solidFill>
                  <a:srgbClr val="1A1917"/>
                </a:solidFill>
                <a:latin typeface="Arial"/>
                <a:ea typeface="Arial"/>
                <a:cs typeface="Arial"/>
              </a:rPr>
              <a:t>Identity as protocol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307932A7-B1D7-4F8B-A003-1BCD06002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704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005"/>
          </a:bodyPr>
          <a:lstStyle xmlns:a="http://schemas.openxmlformats.org/drawingml/2006/main"/>
          <a:p xmlns:a="http://schemas.openxmlformats.org/drawingml/2006/main">
            <a:pPr algn="l"/>
            <a:r>
              <a:rPr sz="2100" b="0">
                <a:solidFill>
                  <a:srgbClr val="2C2B27"/>
                </a:solidFill>
                <a:latin typeface="Arial"/>
                <a:ea typeface="Arial"/>
                <a:cs typeface="Arial"/>
              </a:rPr>
              <a:t>An open ledger of the decisions that make a discipline visible.</a:t>
            </a:r>
          </a:p>
        </p:txBody>
      </p:sp>
      <p:sp>
        <p:nvSpPr>
          <p:cNvPr id="4" name="meta">
            <a:extLst xmlns:a="http://schemas.openxmlformats.org/drawingml/2006/main">
              <a:ext uri="{FF2B5EF4-FFF2-40B4-BE49-F238E27FC236}">
                <a16:creationId xmlns:a16="http://schemas.microsoft.com/office/drawing/2014/main" id="{A05F1E33-7E63-46ED-BB08-90F1201B6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00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975" b="0">
                <a:solidFill>
                  <a:srgbClr val="6B6861"/>
                </a:solidFill>
                <a:latin typeface="JetBrains Mono"/>
                <a:ea typeface="JetBrains Mono"/>
                <a:cs typeface="JetBrains Mono"/>
              </a:rPr>
              <a:t>FACEWORK / CANONICAL IDENTITY / VERSION 1.0</a:t>
            </a:r>
          </a:p>
        </p:txBody>
      </p:sp>
      <p:sp>
        <p:nvSpPr>
          <p:cNvPr id="5" name="footer-1">
            <a:extLst xmlns:a="http://schemas.openxmlformats.org/drawingml/2006/main">
              <a:ext uri="{FF2B5EF4-FFF2-40B4-BE49-F238E27FC236}">
                <a16:creationId xmlns:a16="http://schemas.microsoft.com/office/drawing/2014/main" id="{040CB9D7-A689-49A5-A43B-1F95857F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825" b="0">
                <a:solidFill>
                  <a:srgbClr val="6B6861"/>
                </a:solidFill>
                <a:latin typeface="JetBrains Mono"/>
                <a:ea typeface="JetBrains Mono"/>
                <a:cs typeface="JetBrains Mono"/>
              </a:rPr>
              <a:t>FVA-300 / IDENTITY REFERENCE                                             01</a:t>
            </a:r>
          </a:p>
        </p:txBody>
      </p:sp>
    </p:spTree>
    <p:extLst>
      <p:ext uri="{BB962C8B-B14F-4D97-AF65-F5344CB8AC3E}">
        <p14:creationId xmlns:p14="http://schemas.microsoft.com/office/powerpoint/2010/main" val="7422636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1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index">
            <a:extLst xmlns:a="http://schemas.openxmlformats.org/drawingml/2006/main">
              <a:ext uri="{FF2B5EF4-FFF2-40B4-BE49-F238E27FC236}">
                <a16:creationId xmlns:a16="http://schemas.microsoft.com/office/drawing/2014/main" id="{79772A91-0EFC-4FD3-B41B-6E609AE64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975" b="0">
                <a:solidFill>
                  <a:srgbClr val="9C9890"/>
                </a:solidFill>
                <a:latin typeface="JetBrains Mono"/>
                <a:ea typeface="JetBrains Mono"/>
                <a:cs typeface="JetBrains Mono"/>
              </a:rPr>
              <a:t>01 / THE QUESTION</a:t>
            </a:r>
          </a:p>
        </p:txBody>
      </p:sp>
      <p:sp>
        <p:nvSpPr>
          <p:cNvPr id="2" name="claim">
            <a:extLst xmlns:a="http://schemas.openxmlformats.org/drawingml/2006/main">
              <a:ext uri="{FF2B5EF4-FFF2-40B4-BE49-F238E27FC236}">
                <a16:creationId xmlns:a16="http://schemas.microsoft.com/office/drawing/2014/main" id="{06881572-11A7-40FD-B2DD-B7175C3FC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8572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4350" b="0">
                <a:solidFill>
                  <a:srgbClr val="F4F3EE"/>
                </a:solidFill>
                <a:latin typeface="Arial"/>
                <a:ea typeface="Arial"/>
                <a:cs typeface="Arial"/>
              </a:rPr>
              <a:t>What would identity look like if nothing were arbitrary?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b2de17e7094090"/>
          <a:stretch xmlns:a="http://schemas.openxmlformats.org/drawingml/2006/main"/>
        </p:blipFill>
        <p:spPr>
          <a:xfrm xmlns:a="http://schemas.openxmlformats.org/drawingml/2006/main">
            <a:off x="9334500" y="4574874"/>
            <a:ext cx="2000250" cy="1327752"/>
          </a:xfrm>
          <a:prstGeom xmlns:a="http://schemas.openxmlformats.org/drawingml/2006/main" prst="rect">
            <a:avLst/>
          </a:prstGeom>
        </p:spPr>
      </p:pic>
      <p:sp>
        <p:nvSpPr>
          <p:cNvPr id="4" name="footer-2">
            <a:extLst xmlns:a="http://schemas.openxmlformats.org/drawingml/2006/main">
              <a:ext uri="{FF2B5EF4-FFF2-40B4-BE49-F238E27FC236}">
                <a16:creationId xmlns:a16="http://schemas.microsoft.com/office/drawing/2014/main" id="{EC090079-CE68-40D1-8DA8-A4CD65451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825" b="0">
                <a:solidFill>
                  <a:srgbClr val="9C9890"/>
                </a:solidFill>
                <a:latin typeface="JetBrains Mono"/>
                <a:ea typeface="JetBrains Mono"/>
                <a:cs typeface="JetBrains Mono"/>
              </a:rPr>
              <a:t>FVA-300 / IDENTITY REFERENCE                                             02</a:t>
            </a:r>
          </a:p>
        </p:txBody>
      </p:sp>
    </p:spTree>
    <p:extLst>
      <p:ext uri="{BB962C8B-B14F-4D97-AF65-F5344CB8AC3E}">
        <p14:creationId xmlns:p14="http://schemas.microsoft.com/office/powerpoint/2010/main" val="2088325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index">
            <a:extLst xmlns:a="http://schemas.openxmlformats.org/drawingml/2006/main">
              <a:ext uri="{FF2B5EF4-FFF2-40B4-BE49-F238E27FC236}">
                <a16:creationId xmlns:a16="http://schemas.microsoft.com/office/drawing/2014/main" id="{41C25D3E-81B3-403B-AEA4-75B5FBF6E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975" b="0">
                <a:solidFill>
                  <a:srgbClr val="6B6861"/>
                </a:solidFill>
                <a:latin typeface="JetBrains Mono"/>
                <a:ea typeface="JetBrains Mono"/>
                <a:cs typeface="JetBrains Mono"/>
              </a:rPr>
              <a:t>02 / AXIS EXCHANGE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DFFE268-E5D1-4807-8803-2F96BC3B2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5715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3450" b="0">
                <a:solidFill>
                  <a:srgbClr val="1A1917"/>
                </a:solidFill>
                <a:latin typeface="Arial"/>
                <a:ea typeface="Arial"/>
                <a:cs typeface="Arial"/>
              </a:rPr>
              <a:t>The mark holds counterparts without erasing the interval.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3C31FA6F-A71C-4818-89BF-0A629768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1875" b="0">
                <a:solidFill>
                  <a:srgbClr val="2C2B27"/>
                </a:solidFill>
                <a:latin typeface="Arial"/>
                <a:ea typeface="Arial"/>
                <a:cs typeface="Arial"/>
              </a:rPr>
              <a:t>Paired forces. Controlled tension. A visible change of direction. The center remains open.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ae2892e88c46dc"/>
          <a:stretch xmlns:a="http://schemas.openxmlformats.org/drawingml/2006/main"/>
        </p:blipFill>
        <p:spPr>
          <a:xfrm xmlns:a="http://schemas.openxmlformats.org/drawingml/2006/main">
            <a:off x="7143750" y="1640599"/>
            <a:ext cx="3810000" cy="2529052"/>
          </a:xfrm>
          <a:prstGeom xmlns:a="http://schemas.openxmlformats.org/drawingml/2006/main" prst="rect">
            <a:avLst/>
          </a:prstGeom>
        </p:spPr>
      </p:pic>
      <p:sp>
        <p:nvSpPr>
          <p:cNvPr id="5" name="caption">
            <a:extLst xmlns:a="http://schemas.openxmlformats.org/drawingml/2006/main">
              <a:ext uri="{FF2B5EF4-FFF2-40B4-BE49-F238E27FC236}">
                <a16:creationId xmlns:a16="http://schemas.microsoft.com/office/drawing/2014/main" id="{F50965CC-93E0-4057-B15B-269BAEF35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7625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900" b="0">
                <a:solidFill>
                  <a:srgbClr val="6B6861"/>
                </a:solidFill>
                <a:latin typeface="JetBrains Mono"/>
                <a:ea typeface="JetBrains Mono"/>
                <a:cs typeface="JetBrains Mono"/>
              </a:rPr>
              <a:t>FVI-001 / CANONICAL MARK</a:t>
            </a:r>
          </a:p>
        </p:txBody>
      </p:sp>
      <p:sp>
        <p:nvSpPr>
          <p:cNvPr id="6" name="footer-3">
            <a:extLst xmlns:a="http://schemas.openxmlformats.org/drawingml/2006/main">
              <a:ext uri="{FF2B5EF4-FFF2-40B4-BE49-F238E27FC236}">
                <a16:creationId xmlns:a16="http://schemas.microsoft.com/office/drawing/2014/main" id="{2249A56B-20E4-4FC0-B94B-918CBD819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825" b="0">
                <a:solidFill>
                  <a:srgbClr val="6B6861"/>
                </a:solidFill>
                <a:latin typeface="JetBrains Mono"/>
                <a:ea typeface="JetBrains Mono"/>
                <a:cs typeface="JetBrains Mono"/>
              </a:rPr>
              <a:t>FVA-300 / IDENTITY REFERENCE                                             03</a:t>
            </a:r>
          </a:p>
        </p:txBody>
      </p:sp>
    </p:spTree>
    <p:extLst>
      <p:ext uri="{BB962C8B-B14F-4D97-AF65-F5344CB8AC3E}">
        <p14:creationId xmlns:p14="http://schemas.microsoft.com/office/powerpoint/2010/main" val="10524068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index">
            <a:extLst xmlns:a="http://schemas.openxmlformats.org/drawingml/2006/main">
              <a:ext uri="{FF2B5EF4-FFF2-40B4-BE49-F238E27FC236}">
                <a16:creationId xmlns:a16="http://schemas.microsoft.com/office/drawing/2014/main" id="{E3DE536A-F15C-425D-834A-A2BAAB192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975" b="0">
                <a:solidFill>
                  <a:srgbClr val="6B6861"/>
                </a:solidFill>
                <a:latin typeface="JetBrains Mono"/>
                <a:ea typeface="JetBrains Mono"/>
                <a:cs typeface="JetBrains Mono"/>
              </a:rPr>
              <a:t>03 / REGISTER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AF11256-AC17-41D2-B8A5-A5E1FB41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809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3375" b="0">
                <a:solidFill>
                  <a:srgbClr val="1A1917"/>
                </a:solidFill>
                <a:latin typeface="Arial"/>
                <a:ea typeface="Arial"/>
                <a:cs typeface="Arial"/>
              </a:rPr>
              <a:t>The name changes direction where identity becomes practice.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a90cde97a54d31"/>
          <a:stretch xmlns:a="http://schemas.openxmlformats.org/drawingml/2006/main"/>
        </p:blipFill>
        <p:spPr>
          <a:xfrm xmlns:a="http://schemas.openxmlformats.org/drawingml/2006/main">
            <a:off x="1343442" y="2762250"/>
            <a:ext cx="8343066" cy="1428750"/>
          </a:xfrm>
          <a:prstGeom xmlns:a="http://schemas.openxmlformats.org/drawingml/2006/main" prst="rect">
            <a:avLst/>
          </a:prstGeom>
        </p:spPr>
      </p:pic>
      <p:sp>
        <p:nvSpPr>
          <p:cNvPr id="4" name="rule-64-500">
            <a:extLst xmlns:a="http://schemas.openxmlformats.org/drawingml/2006/main">
              <a:ext uri="{FF2B5EF4-FFF2-40B4-BE49-F238E27FC236}">
                <a16:creationId xmlns:a16="http://schemas.microsoft.com/office/drawing/2014/main" id="{FFDB0682-D24D-457B-8E48-8B345F87E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3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names">
            <a:extLst xmlns:a="http://schemas.openxmlformats.org/drawingml/2006/main">
              <a:ext uri="{FF2B5EF4-FFF2-40B4-BE49-F238E27FC236}">
                <a16:creationId xmlns:a16="http://schemas.microsoft.com/office/drawing/2014/main" id="{E2F393C4-D41A-416C-AC99-A93517464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2100" b="0">
                <a:solidFill>
                  <a:srgbClr val="1A1917"/>
                </a:solidFill>
                <a:latin typeface="Arial"/>
                <a:ea typeface="Arial"/>
                <a:cs typeface="Arial"/>
              </a:rPr>
              <a:t>Facework</a:t>
            </a:r>
          </a:p>
        </p:txBody>
      </p:sp>
      <p:sp>
        <p:nvSpPr>
          <p:cNvPr id="6" name="proper">
            <a:extLst xmlns:a="http://schemas.openxmlformats.org/drawingml/2006/main">
              <a:ext uri="{FF2B5EF4-FFF2-40B4-BE49-F238E27FC236}">
                <a16:creationId xmlns:a16="http://schemas.microsoft.com/office/drawing/2014/main" id="{E20184F6-1CF1-43E2-BB9D-1DEF01EC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900" b="0">
                <a:solidFill>
                  <a:srgbClr val="6B6861"/>
                </a:solidFill>
                <a:latin typeface="JetBrains Mono"/>
                <a:ea typeface="JetBrains Mono"/>
                <a:cs typeface="JetBrains Mono"/>
              </a:rPr>
              <a:t>proper name</a:t>
            </a:r>
          </a:p>
        </p:txBody>
      </p:sp>
      <p:sp>
        <p:nvSpPr>
          <p:cNvPr id="7" name="logo-name">
            <a:extLst xmlns:a="http://schemas.openxmlformats.org/drawingml/2006/main">
              <a:ext uri="{FF2B5EF4-FFF2-40B4-BE49-F238E27FC236}">
                <a16:creationId xmlns:a16="http://schemas.microsoft.com/office/drawing/2014/main" id="{0535D97A-6D9F-4646-8FEC-182669691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0673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2100" b="0">
                <a:solidFill>
                  <a:srgbClr val="1A1917"/>
                </a:solidFill>
                <a:latin typeface="JetBrains Mono"/>
                <a:ea typeface="JetBrains Mono"/>
                <a:cs typeface="JetBrains Mono"/>
              </a:rPr>
              <a:t>FACEWORK</a:t>
            </a:r>
          </a:p>
        </p:txBody>
      </p:sp>
      <p:sp>
        <p:nvSpPr>
          <p:cNvPr id="8" name="logo-label">
            <a:extLst xmlns:a="http://schemas.openxmlformats.org/drawingml/2006/main">
              <a:ext uri="{FF2B5EF4-FFF2-40B4-BE49-F238E27FC236}">
                <a16:creationId xmlns:a16="http://schemas.microsoft.com/office/drawing/2014/main" id="{6BB41322-1391-412A-B2F9-0267B30E6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5816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900" b="0">
                <a:solidFill>
                  <a:srgbClr val="6B6861"/>
                </a:solidFill>
                <a:latin typeface="JetBrains Mono"/>
                <a:ea typeface="JetBrains Mono"/>
                <a:cs typeface="JetBrains Mono"/>
              </a:rPr>
              <a:t>logotype</a:t>
            </a:r>
          </a:p>
        </p:txBody>
      </p:sp>
      <p:sp>
        <p:nvSpPr>
          <p:cNvPr id="9" name="domain">
            <a:extLst xmlns:a="http://schemas.openxmlformats.org/drawingml/2006/main">
              <a:ext uri="{FF2B5EF4-FFF2-40B4-BE49-F238E27FC236}">
                <a16:creationId xmlns:a16="http://schemas.microsoft.com/office/drawing/2014/main" id="{2B21B055-0278-42A2-A2FA-68CA9F22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673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2100" b="0">
                <a:solidFill>
                  <a:srgbClr val="1A1917"/>
                </a:solidFill>
                <a:latin typeface="JetBrains Mono"/>
                <a:ea typeface="JetBrains Mono"/>
                <a:cs typeface="JetBrains Mono"/>
              </a:rPr>
              <a:t>face.works</a:t>
            </a:r>
          </a:p>
        </p:txBody>
      </p:sp>
      <p:sp>
        <p:nvSpPr>
          <p:cNvPr id="10" name="domain-label">
            <a:extLst xmlns:a="http://schemas.openxmlformats.org/drawingml/2006/main">
              <a:ext uri="{FF2B5EF4-FFF2-40B4-BE49-F238E27FC236}">
                <a16:creationId xmlns:a16="http://schemas.microsoft.com/office/drawing/2014/main" id="{EC5880CF-7EB0-4E6F-AD6F-840EA7E6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5816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900" b="0">
                <a:solidFill>
                  <a:srgbClr val="6B6861"/>
                </a:solidFill>
                <a:latin typeface="JetBrains Mono"/>
                <a:ea typeface="JetBrains Mono"/>
                <a:cs typeface="JetBrains Mono"/>
              </a:rPr>
              <a:t>public interface</a:t>
            </a:r>
          </a:p>
        </p:txBody>
      </p:sp>
      <p:sp>
        <p:nvSpPr>
          <p:cNvPr id="11" name="footer-4">
            <a:extLst xmlns:a="http://schemas.openxmlformats.org/drawingml/2006/main">
              <a:ext uri="{FF2B5EF4-FFF2-40B4-BE49-F238E27FC236}">
                <a16:creationId xmlns:a16="http://schemas.microsoft.com/office/drawing/2014/main" id="{BC43CBB1-D27F-4554-A86A-A8B0C985A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825" b="0">
                <a:solidFill>
                  <a:srgbClr val="6B6861"/>
                </a:solidFill>
                <a:latin typeface="JetBrains Mono"/>
                <a:ea typeface="JetBrains Mono"/>
                <a:cs typeface="JetBrains Mono"/>
              </a:rPr>
              <a:t>FVA-300 / IDENTITY REFERENCE                                             04</a:t>
            </a:r>
          </a:p>
        </p:txBody>
      </p:sp>
    </p:spTree>
    <p:extLst>
      <p:ext uri="{BB962C8B-B14F-4D97-AF65-F5344CB8AC3E}">
        <p14:creationId xmlns:p14="http://schemas.microsoft.com/office/powerpoint/2010/main" val="9590118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index">
            <a:extLst xmlns:a="http://schemas.openxmlformats.org/drawingml/2006/main">
              <a:ext uri="{FF2B5EF4-FFF2-40B4-BE49-F238E27FC236}">
                <a16:creationId xmlns:a16="http://schemas.microsoft.com/office/drawing/2014/main" id="{B55E9293-F454-4974-9DC9-E377597CB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975" b="0">
                <a:solidFill>
                  <a:srgbClr val="6B6861"/>
                </a:solidFill>
                <a:latin typeface="JetBrains Mono"/>
                <a:ea typeface="JetBrains Mono"/>
                <a:cs typeface="JetBrains Mono"/>
              </a:rPr>
              <a:t>04 / SPATIAL PROTOCOL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3519B68-317D-4BEF-8F4C-B5BF692E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7905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3225" b="0">
                <a:solidFill>
                  <a:srgbClr val="1A1917"/>
                </a:solidFill>
                <a:latin typeface="Arial"/>
                <a:ea typeface="Arial"/>
                <a:cs typeface="Arial"/>
              </a:rPr>
              <a:t>One open interval governs the signature.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85c47f29b94536">
            <a:extLst>
              <a:ext uri="{96DAC541-7B7A-43D3-8B79-37D633B846F1}">
                <asvg:svgBlip xmlns:asvg="http://schemas.microsoft.com/office/drawing/2016/SVG/main" r:embed="Rb1d18f18a1564df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333625" y="1619250"/>
            <a:ext cx="7524750" cy="4762500"/>
          </a:xfrm>
          <a:prstGeom xmlns:a="http://schemas.openxmlformats.org/drawingml/2006/main" prst="rect">
            <a:avLst/>
          </a:prstGeom>
        </p:spPr>
      </p:pic>
      <p:sp>
        <p:nvSpPr>
          <p:cNvPr id="4" name="footer-5">
            <a:extLst xmlns:a="http://schemas.openxmlformats.org/drawingml/2006/main">
              <a:ext uri="{FF2B5EF4-FFF2-40B4-BE49-F238E27FC236}">
                <a16:creationId xmlns:a16="http://schemas.microsoft.com/office/drawing/2014/main" id="{EFC15E4B-4D31-48B2-BDE4-E996346C7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825" b="0">
                <a:solidFill>
                  <a:srgbClr val="6B6861"/>
                </a:solidFill>
                <a:latin typeface="JetBrains Mono"/>
                <a:ea typeface="JetBrains Mono"/>
                <a:cs typeface="JetBrains Mono"/>
              </a:rPr>
              <a:t>FVA-300 / IDENTITY REFERENCE                                             05</a:t>
            </a:r>
          </a:p>
        </p:txBody>
      </p:sp>
    </p:spTree>
    <p:extLst>
      <p:ext uri="{BB962C8B-B14F-4D97-AF65-F5344CB8AC3E}">
        <p14:creationId xmlns:p14="http://schemas.microsoft.com/office/powerpoint/2010/main" val="4163597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index">
            <a:extLst xmlns:a="http://schemas.openxmlformats.org/drawingml/2006/main">
              <a:ext uri="{FF2B5EF4-FFF2-40B4-BE49-F238E27FC236}">
                <a16:creationId xmlns:a16="http://schemas.microsoft.com/office/drawing/2014/main" id="{A5327F5B-672C-403F-B061-274296067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975" b="0">
                <a:solidFill>
                  <a:srgbClr val="6B6861"/>
                </a:solidFill>
                <a:latin typeface="JetBrains Mono"/>
                <a:ea typeface="JetBrains Mono"/>
                <a:cs typeface="JetBrains Mono"/>
              </a:rPr>
              <a:t>05 / DIAGRAM GRAMMAR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D8A3BE5-984C-46F9-9D53-96F1EC250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57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3225" b="0">
                <a:solidFill>
                  <a:srgbClr val="1A1917"/>
                </a:solidFill>
                <a:latin typeface="Arial"/>
                <a:ea typeface="Arial"/>
                <a:cs typeface="Arial"/>
              </a:rPr>
              <a:t>Symbols identify kind. Labels identify meaning.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59180f4e874d6e">
            <a:extLst>
              <a:ext uri="{96DAC541-7B7A-43D3-8B79-37D633B846F1}">
                <asvg:svgBlip xmlns:asvg="http://schemas.microsoft.com/office/drawing/2016/SVG/main" r:embed="R115a59d86f6549b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333500" y="1581150"/>
            <a:ext cx="9525000" cy="4495800"/>
          </a:xfrm>
          <a:prstGeom xmlns:a="http://schemas.openxmlformats.org/drawingml/2006/main" prst="rect">
            <a:avLst/>
          </a:prstGeom>
        </p:spPr>
      </p:pic>
      <p:sp>
        <p:nvSpPr>
          <p:cNvPr id="4" name="footer-6">
            <a:extLst xmlns:a="http://schemas.openxmlformats.org/drawingml/2006/main">
              <a:ext uri="{FF2B5EF4-FFF2-40B4-BE49-F238E27FC236}">
                <a16:creationId xmlns:a16="http://schemas.microsoft.com/office/drawing/2014/main" id="{DE48D70E-A04F-4E83-9171-3C55A91C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825" b="0">
                <a:solidFill>
                  <a:srgbClr val="6B6861"/>
                </a:solidFill>
                <a:latin typeface="JetBrains Mono"/>
                <a:ea typeface="JetBrains Mono"/>
                <a:cs typeface="JetBrains Mono"/>
              </a:rPr>
              <a:t>FVA-300 / IDENTITY REFERENCE                                             06</a:t>
            </a:r>
          </a:p>
        </p:txBody>
      </p:sp>
    </p:spTree>
    <p:extLst>
      <p:ext uri="{BB962C8B-B14F-4D97-AF65-F5344CB8AC3E}">
        <p14:creationId xmlns:p14="http://schemas.microsoft.com/office/powerpoint/2010/main" val="6065966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111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index">
            <a:extLst xmlns:a="http://schemas.openxmlformats.org/drawingml/2006/main">
              <a:ext uri="{FF2B5EF4-FFF2-40B4-BE49-F238E27FC236}">
                <a16:creationId xmlns:a16="http://schemas.microsoft.com/office/drawing/2014/main" id="{91F265CC-3D67-47E1-B8D4-57EA0A27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975" b="0">
                <a:solidFill>
                  <a:srgbClr val="9C9890"/>
                </a:solidFill>
                <a:latin typeface="JetBrains Mono"/>
                <a:ea typeface="JetBrains Mono"/>
                <a:cs typeface="JetBrains Mono"/>
              </a:rPr>
              <a:t>06 / EXCHANGE RESOLVE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E704777-F896-48BE-90B4-6162F694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76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3225" b="0">
                <a:solidFill>
                  <a:srgbClr val="F4F3EE"/>
                </a:solidFill>
                <a:latin typeface="Arial"/>
                <a:ea typeface="Arial"/>
                <a:cs typeface="Arial"/>
              </a:rPr>
              <a:t>Motion reveals relationship through time.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9f1a4f5a7048f8">
            <a:extLst>
              <a:ext uri="{96DAC541-7B7A-43D3-8B79-37D633B846F1}">
                <asvg:svgBlip xmlns:asvg="http://schemas.microsoft.com/office/drawing/2016/SVG/main" r:embed="R34021860e05b400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6750" y="1600200"/>
            <a:ext cx="10858500" cy="4095750"/>
          </a:xfrm>
          <a:prstGeom xmlns:a="http://schemas.openxmlformats.org/drawingml/2006/main" prst="rect">
            <a:avLst/>
          </a:prstGeom>
        </p:spPr>
      </p:pic>
      <p:sp>
        <p:nvSpPr>
          <p:cNvPr id="4" name="motion-meta">
            <a:extLst xmlns:a="http://schemas.openxmlformats.org/drawingml/2006/main">
              <a:ext uri="{FF2B5EF4-FFF2-40B4-BE49-F238E27FC236}">
                <a16:creationId xmlns:a16="http://schemas.microsoft.com/office/drawing/2014/main" id="{7409FB0A-B978-4CCF-8FA4-8749ABB1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5312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900" b="0">
                <a:solidFill>
                  <a:srgbClr val="9C9890"/>
                </a:solidFill>
                <a:latin typeface="JetBrains Mono"/>
                <a:ea typeface="JetBrains Mono"/>
                <a:cs typeface="JetBrains Mono"/>
              </a:rPr>
              <a:t>520 MS   /   CONTROLLED DECELERATION   /   RESOLVED STATIC STATE FOR REDUCED MOTION</a:t>
            </a:r>
          </a:p>
        </p:txBody>
      </p:sp>
      <p:sp>
        <p:nvSpPr>
          <p:cNvPr id="5" name="footer-7">
            <a:extLst xmlns:a="http://schemas.openxmlformats.org/drawingml/2006/main">
              <a:ext uri="{FF2B5EF4-FFF2-40B4-BE49-F238E27FC236}">
                <a16:creationId xmlns:a16="http://schemas.microsoft.com/office/drawing/2014/main" id="{8B51A587-F823-4D7B-99E4-9B52F6DBA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825" b="0">
                <a:solidFill>
                  <a:srgbClr val="9C9890"/>
                </a:solidFill>
                <a:latin typeface="JetBrains Mono"/>
                <a:ea typeface="JetBrains Mono"/>
                <a:cs typeface="JetBrains Mono"/>
              </a:rPr>
              <a:t>FVA-300 / IDENTITY REFERENCE                                             07</a:t>
            </a:r>
          </a:p>
        </p:txBody>
      </p:sp>
    </p:spTree>
    <p:extLst>
      <p:ext uri="{BB962C8B-B14F-4D97-AF65-F5344CB8AC3E}">
        <p14:creationId xmlns:p14="http://schemas.microsoft.com/office/powerpoint/2010/main" val="2882724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111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index">
            <a:extLst xmlns:a="http://schemas.openxmlformats.org/drawingml/2006/main">
              <a:ext uri="{FF2B5EF4-FFF2-40B4-BE49-F238E27FC236}">
                <a16:creationId xmlns:a16="http://schemas.microsoft.com/office/drawing/2014/main" id="{9F09516D-DA76-41D0-8F0B-8F60CBBF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975" b="0">
                <a:solidFill>
                  <a:srgbClr val="9C9890"/>
                </a:solidFill>
                <a:latin typeface="JetBrains Mono"/>
                <a:ea typeface="JetBrains Mono"/>
                <a:cs typeface="JetBrains Mono"/>
              </a:rPr>
              <a:t>07 / INHERITANCE</a:t>
            </a:r>
          </a:p>
        </p:txBody>
      </p:sp>
      <p:sp>
        <p:nvSpPr>
          <p:cNvPr id="2" name="claim">
            <a:extLst xmlns:a="http://schemas.openxmlformats.org/drawingml/2006/main">
              <a:ext uri="{FF2B5EF4-FFF2-40B4-BE49-F238E27FC236}">
                <a16:creationId xmlns:a16="http://schemas.microsoft.com/office/drawing/2014/main" id="{E84C74B9-0C98-424F-A74F-ADEA61847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8858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4350" b="0">
                <a:solidFill>
                  <a:srgbClr val="F4F3EE"/>
                </a:solidFill>
                <a:latin typeface="Arial"/>
                <a:ea typeface="Arial"/>
                <a:cs typeface="Arial"/>
              </a:rPr>
              <a:t>The identity is complete when someone else can carry it forward.</a:t>
            </a:r>
          </a:p>
        </p:txBody>
      </p:sp>
      <p:sp>
        <p:nvSpPr>
          <p:cNvPr id="3" name="close">
            <a:extLst xmlns:a="http://schemas.openxmlformats.org/drawingml/2006/main">
              <a:ext uri="{FF2B5EF4-FFF2-40B4-BE49-F238E27FC236}">
                <a16:creationId xmlns:a16="http://schemas.microsoft.com/office/drawing/2014/main" id="{05F27DB2-193A-4432-9E6A-2D463D929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1650" b="0">
                <a:solidFill>
                  <a:srgbClr val="9C9890"/>
                </a:solidFill>
                <a:latin typeface="JetBrains Mono"/>
                <a:ea typeface="JetBrains Mono"/>
                <a:cs typeface="JetBrains Mono"/>
              </a:rPr>
              <a:t>Nothing is designed until it can be derived.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78653879714ad5"/>
          <a:stretch xmlns:a="http://schemas.openxmlformats.org/drawingml/2006/main"/>
        </p:blipFill>
        <p:spPr>
          <a:xfrm xmlns:a="http://schemas.openxmlformats.org/drawingml/2006/main">
            <a:off x="9620250" y="4764963"/>
            <a:ext cx="1714500" cy="1138073"/>
          </a:xfrm>
          <a:prstGeom xmlns:a="http://schemas.openxmlformats.org/drawingml/2006/main" prst="rect">
            <a:avLst/>
          </a:prstGeom>
        </p:spPr>
      </p:pic>
      <p:sp>
        <p:nvSpPr>
          <p:cNvPr id="5" name="footer-8">
            <a:extLst xmlns:a="http://schemas.openxmlformats.org/drawingml/2006/main">
              <a:ext uri="{FF2B5EF4-FFF2-40B4-BE49-F238E27FC236}">
                <a16:creationId xmlns:a16="http://schemas.microsoft.com/office/drawing/2014/main" id="{1C1A57FF-40CD-45F9-A445-F9AA958EE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825" b="0">
                <a:solidFill>
                  <a:srgbClr val="9C9890"/>
                </a:solidFill>
                <a:latin typeface="JetBrains Mono"/>
                <a:ea typeface="JetBrains Mono"/>
                <a:cs typeface="JetBrains Mono"/>
              </a:rPr>
              <a:t>FVA-300 / IDENTITY REFERENCE                                             08</a:t>
            </a:r>
          </a:p>
        </p:txBody>
      </p:sp>
    </p:spTree>
    <p:extLst>
      <p:ext uri="{BB962C8B-B14F-4D97-AF65-F5344CB8AC3E}">
        <p14:creationId xmlns:p14="http://schemas.microsoft.com/office/powerpoint/2010/main" val="6381414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2026-08-06T08:17:29.0270000Z</dcterms:created>
  <dcterms:modified xsi:type="dcterms:W3CDTF">2026-08-06T08:17:29.0270000Z</dcterms:modified>
</coreProperties>
</file>